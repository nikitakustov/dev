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71" r:id="rId13"/>
    <p:sldId id="266" r:id="rId14"/>
    <p:sldId id="267" r:id="rId15"/>
    <p:sldId id="268" r:id="rId16"/>
    <p:sldId id="269" r:id="rId17"/>
  </p:sldIdLst>
  <p:sldSz cx="18288000" cy="10287000"/>
  <p:notesSz cx="18288000" cy="10287000"/>
  <p:embeddedFontLst>
    <p:embeddedFont>
      <p:font typeface="Bahnschrift" panose="020B0502040204020203" pitchFamily="3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52" d="100"/>
          <a:sy n="52" d="100"/>
        </p:scale>
        <p:origin x="787" y="8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15D330B4-DB11-0482-1662-619F2E4D8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>
            <a:extLst>
              <a:ext uri="{FF2B5EF4-FFF2-40B4-BE49-F238E27FC236}">
                <a16:creationId xmlns:a16="http://schemas.microsoft.com/office/drawing/2014/main" id="{3DD18D24-E202-AA2E-1EAB-5D625C1EC7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>
            <a:extLst>
              <a:ext uri="{FF2B5EF4-FFF2-40B4-BE49-F238E27FC236}">
                <a16:creationId xmlns:a16="http://schemas.microsoft.com/office/drawing/2014/main" id="{24886772-75C2-0884-4693-3748529A8E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657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73D680E6-9E0E-33ED-CEC0-A87ACEB63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>
            <a:extLst>
              <a:ext uri="{FF2B5EF4-FFF2-40B4-BE49-F238E27FC236}">
                <a16:creationId xmlns:a16="http://schemas.microsoft.com/office/drawing/2014/main" id="{7AECF401-AED8-0D92-A46F-8D533CE263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:notes">
            <a:extLst>
              <a:ext uri="{FF2B5EF4-FFF2-40B4-BE49-F238E27FC236}">
                <a16:creationId xmlns:a16="http://schemas.microsoft.com/office/drawing/2014/main" id="{7C32BD02-5883-E3EE-5BB2-561BBFCAA5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39739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371600" y="3195640"/>
            <a:ext cx="15544800" cy="220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lvl="0" algn="ctr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444626" y="6610352"/>
            <a:ext cx="15544800" cy="204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Calibri"/>
              <a:buNone/>
              <a:defRPr sz="7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1444626" y="4360072"/>
            <a:ext cx="155448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marL="457200" lvl="0" indent="-228600" algn="l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18288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5461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400" lvl="1" indent="-50165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marL="1371600" lvl="2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marL="1828800" lvl="3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marL="2286000" lvl="4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marL="2743200" lvl="5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marL="3200400" lvl="6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marL="3657600" lvl="7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marL="4114800" lvl="8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184404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5461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400" lvl="1" indent="-50165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marL="1371600" lvl="2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marL="1828800" lvl="3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marL="2286000" lvl="4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marL="2743200" lvl="5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marL="3200400" lvl="6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marL="3657600" lvl="7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marL="4114800" lvl="8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914400" y="2302671"/>
            <a:ext cx="8080376" cy="95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marL="457200" lvl="0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 b="1"/>
            </a:lvl1pPr>
            <a:lvl2pPr marL="914400" lvl="1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2pPr>
            <a:lvl3pPr marL="1371600" lvl="2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3pPr>
            <a:lvl4pPr marL="1828800" lvl="3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4pPr>
            <a:lvl5pPr marL="2286000" lvl="4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5pPr>
            <a:lvl6pPr marL="2743200" lvl="5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6pPr>
            <a:lvl7pPr marL="3200400" lvl="6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7pPr>
            <a:lvl8pPr marL="3657600" lvl="7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8pPr>
            <a:lvl9pPr marL="4114800" lvl="8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914400" y="3262313"/>
            <a:ext cx="8080376" cy="5926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50165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marL="914400" lvl="1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marL="1371600" lvl="2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marL="1828800" lvl="3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marL="2286000" lvl="4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marL="2743200" lvl="5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marL="3200400" lvl="6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marL="3657600" lvl="7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marL="4114800" lvl="8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9290053" y="2302671"/>
            <a:ext cx="8083550" cy="95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marL="457200" lvl="0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 b="1"/>
            </a:lvl1pPr>
            <a:lvl2pPr marL="914400" lvl="1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2pPr>
            <a:lvl3pPr marL="1371600" lvl="2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3pPr>
            <a:lvl4pPr marL="1828800" lvl="3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4pPr>
            <a:lvl5pPr marL="2286000" lvl="4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5pPr>
            <a:lvl6pPr marL="2743200" lvl="5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6pPr>
            <a:lvl7pPr marL="3200400" lvl="6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7pPr>
            <a:lvl8pPr marL="3657600" lvl="7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8pPr>
            <a:lvl9pPr marL="4114800" lvl="8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9290053" y="3262313"/>
            <a:ext cx="8083550" cy="5926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50165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marL="914400" lvl="1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marL="1371600" lvl="2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marL="1828800" lvl="3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marL="2286000" lvl="4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marL="2743200" lvl="5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marL="3200400" lvl="6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marL="3657600" lvl="7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marL="4114800" lvl="8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914403" y="409575"/>
            <a:ext cx="6016626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7150100" y="409577"/>
            <a:ext cx="10223500" cy="877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1pPr>
            <a:lvl2pPr marL="914400" lvl="1" indent="-5461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marL="1371600" lvl="2" indent="-50165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3pPr>
            <a:lvl4pPr marL="1828800" lvl="3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4pPr>
            <a:lvl5pPr marL="2286000" lvl="4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3600"/>
            </a:lvl5pPr>
            <a:lvl6pPr marL="2743200" lvl="5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6pPr>
            <a:lvl7pPr marL="3200400" lvl="6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7pPr>
            <a:lvl8pPr marL="3657600" lvl="7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8pPr>
            <a:lvl9pPr marL="4114800" lvl="8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2"/>
          </p:nvPr>
        </p:nvSpPr>
        <p:spPr>
          <a:xfrm>
            <a:off x="914403" y="2152652"/>
            <a:ext cx="6016626" cy="703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marL="914400" lvl="1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>
            <a:spLocks noGrp="1"/>
          </p:cNvSpPr>
          <p:nvPr>
            <p:ph type="pic" idx="2"/>
          </p:nvPr>
        </p:nvSpPr>
        <p:spPr>
          <a:xfrm>
            <a:off x="3584576" y="919163"/>
            <a:ext cx="10972800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>
            <a:off x="3584576" y="8051007"/>
            <a:ext cx="10972800" cy="120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marL="914400" lvl="1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 rot="5400000">
            <a:off x="5749528" y="-2434826"/>
            <a:ext cx="6788945" cy="164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 rot="5400000">
            <a:off x="24049434" y="3087291"/>
            <a:ext cx="1316593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 rot="5400000">
            <a:off x="7437834" y="-4989909"/>
            <a:ext cx="13165932" cy="24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marR="0" lvl="0" indent="-590550" algn="l" rtl="0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sz="5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461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–"/>
              <a:defRPr sz="5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01650" algn="l" rtl="0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sz="4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4"/>
          <p:cNvGrpSpPr/>
          <p:nvPr/>
        </p:nvGrpSpPr>
        <p:grpSpPr>
          <a:xfrm>
            <a:off x="0" y="23812"/>
            <a:ext cx="18288318" cy="10248900"/>
            <a:chOff x="0" y="23812"/>
            <a:chExt cx="18288318" cy="10248900"/>
          </a:xfrm>
        </p:grpSpPr>
        <p:sp>
          <p:nvSpPr>
            <p:cNvPr id="91" name="Google Shape;91;p14"/>
            <p:cNvSpPr/>
            <p:nvPr/>
          </p:nvSpPr>
          <p:spPr>
            <a:xfrm>
              <a:off x="4763" y="23812"/>
              <a:ext cx="2343150" cy="10248900"/>
            </a:xfrm>
            <a:custGeom>
              <a:avLst/>
              <a:gdLst/>
              <a:ahLst/>
              <a:cxnLst/>
              <a:rect l="l" t="t" r="r" b="b"/>
              <a:pathLst>
                <a:path w="2343150" h="10248900" extrusionOk="0">
                  <a:moveTo>
                    <a:pt x="2343150" y="0"/>
                  </a:moveTo>
                  <a:lnTo>
                    <a:pt x="0" y="0"/>
                  </a:lnTo>
                  <a:lnTo>
                    <a:pt x="0" y="10248900"/>
                  </a:lnTo>
                  <a:lnTo>
                    <a:pt x="2343150" y="10248900"/>
                  </a:lnTo>
                  <a:lnTo>
                    <a:pt x="234315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4763" y="23812"/>
              <a:ext cx="2343150" cy="10248900"/>
            </a:xfrm>
            <a:custGeom>
              <a:avLst/>
              <a:gdLst/>
              <a:ahLst/>
              <a:cxnLst/>
              <a:rect l="l" t="t" r="r" b="b"/>
              <a:pathLst>
                <a:path w="2343150" h="10248900" extrusionOk="0">
                  <a:moveTo>
                    <a:pt x="0" y="10248900"/>
                  </a:moveTo>
                  <a:lnTo>
                    <a:pt x="2343150" y="10248900"/>
                  </a:lnTo>
                  <a:lnTo>
                    <a:pt x="2343150" y="0"/>
                  </a:lnTo>
                  <a:lnTo>
                    <a:pt x="0" y="0"/>
                  </a:lnTo>
                  <a:lnTo>
                    <a:pt x="0" y="10248900"/>
                  </a:lnTo>
                  <a:close/>
                </a:path>
              </a:pathLst>
            </a:custGeom>
            <a:noFill/>
            <a:ln w="2540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4763" y="881125"/>
              <a:ext cx="18283555" cy="1905"/>
            </a:xfrm>
            <a:custGeom>
              <a:avLst/>
              <a:gdLst/>
              <a:ahLst/>
              <a:cxnLst/>
              <a:rect l="l" t="t" r="r" b="b"/>
              <a:pathLst>
                <a:path w="18283555" h="1905" extrusionOk="0">
                  <a:moveTo>
                    <a:pt x="0" y="0"/>
                  </a:moveTo>
                  <a:lnTo>
                    <a:pt x="18283236" y="1523"/>
                  </a:lnTo>
                </a:path>
              </a:pathLst>
            </a:custGeom>
            <a:noFill/>
            <a:ln w="9525" cap="flat" cmpd="sng">
              <a:solidFill>
                <a:srgbClr val="1F487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94" name="Google Shape;94;p14" descr="Изображение выглядит как Шрифт, снимок экрана, Графика, логотип  Содержимое, созданное искусственным интеллектом, может быть неверным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200025"/>
              <a:ext cx="2343149" cy="2190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14"/>
          <p:cNvSpPr txBox="1"/>
          <p:nvPr/>
        </p:nvSpPr>
        <p:spPr>
          <a:xfrm>
            <a:off x="6571805" y="979487"/>
            <a:ext cx="5060696" cy="6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95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Дипломная работа</a:t>
            </a:r>
            <a:endParaRPr sz="3950" dirty="0">
              <a:solidFill>
                <a:schemeClr val="lt1"/>
              </a:solidFill>
              <a:latin typeface="Bahnschrift" panose="020B0502040204020203" pitchFamily="34" charset="0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874010" y="2435859"/>
            <a:ext cx="13995400" cy="4630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065" marR="5080" lvl="0" indent="-254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Проектирование и разработка приложения для контроля выполнения физических упражнений с использованием методов машинного обучения</a:t>
            </a:r>
            <a:endParaRPr sz="6000" dirty="0">
              <a:solidFill>
                <a:schemeClr val="lt1"/>
              </a:solidFill>
              <a:latin typeface="Bahnschrift" panose="020B0502040204020203" pitchFamily="34" charset="0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2277090" y="7698422"/>
            <a:ext cx="5670550" cy="869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00" rIns="0" bIns="0" anchor="t" anchorCtr="0">
            <a:spAutoFit/>
          </a:bodyPr>
          <a:lstStyle/>
          <a:p>
            <a:pPr marL="12700" marR="5080" lvl="0" indent="0" algn="l" rtl="0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5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Автор: Кустов Никита Алексеевич Руководитель: </a:t>
            </a:r>
            <a:r>
              <a:rPr lang="ru-RU" sz="2750" dirty="0" err="1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Деркунов</a:t>
            </a:r>
            <a:r>
              <a:rPr lang="ru-RU" sz="275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 М.Ю.</a:t>
            </a:r>
            <a:endParaRPr sz="2750" dirty="0">
              <a:solidFill>
                <a:schemeClr val="lt1"/>
              </a:solidFill>
              <a:latin typeface="Bahnschrift" panose="020B0502040204020203" pitchFamily="34" charset="0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083931" y="9528809"/>
            <a:ext cx="2036445" cy="4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5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Казань 2026</a:t>
            </a:r>
            <a:endParaRPr sz="2750" dirty="0">
              <a:solidFill>
                <a:schemeClr val="lt1"/>
              </a:solidFill>
              <a:latin typeface="Bahnschrift" panose="020B0502040204020203" pitchFamily="34" charset="0"/>
              <a:sym typeface="Arial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2880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0"/>
              <a:buFont typeface="Arial"/>
              <a:buNone/>
            </a:pPr>
            <a:r>
              <a:rPr lang="ru-RU" sz="3950" dirty="0">
                <a:solidFill>
                  <a:schemeClr val="lt1"/>
                </a:solidFill>
                <a:latin typeface="Bahnschrift" panose="020B0502040204020203" pitchFamily="34" charset="0"/>
                <a:ea typeface="Arial"/>
                <a:cs typeface="Arial"/>
                <a:sym typeface="Arial"/>
              </a:rPr>
              <a:t>Компьютерная Академия ТОП</a:t>
            </a:r>
            <a:endParaRPr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5"/>
          <p:cNvGrpSpPr/>
          <p:nvPr/>
        </p:nvGrpSpPr>
        <p:grpSpPr>
          <a:xfrm>
            <a:off x="0" y="4762"/>
            <a:ext cx="18288381" cy="10282555"/>
            <a:chOff x="0" y="4762"/>
            <a:chExt cx="18288381" cy="10282555"/>
          </a:xfrm>
        </p:grpSpPr>
        <p:sp>
          <p:nvSpPr>
            <p:cNvPr id="105" name="Google Shape;105;p15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0" y="847725"/>
              <a:ext cx="18288000" cy="19050"/>
            </a:xfrm>
            <a:custGeom>
              <a:avLst/>
              <a:gdLst/>
              <a:ahLst/>
              <a:cxnLst/>
              <a:rect l="l" t="t" r="r" b="b"/>
              <a:pathLst>
                <a:path w="18288000" h="19050" extrusionOk="0">
                  <a:moveTo>
                    <a:pt x="182880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8288000" y="1905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13C88">
                <a:alpha val="1490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08" name="Google Shape;108;p15"/>
          <p:cNvSpPr txBox="1"/>
          <p:nvPr/>
        </p:nvSpPr>
        <p:spPr>
          <a:xfrm>
            <a:off x="228599" y="1028700"/>
            <a:ext cx="8706853" cy="297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Миллионы людей занимаются дома без тренера. Проблема техники, ограниченность</a:t>
            </a:r>
            <a:r>
              <a:rPr lang="ru-RU" sz="3200" dirty="0">
                <a:solidFill>
                  <a:schemeClr val="dk1"/>
                </a:solidFill>
                <a:latin typeface="Bahnschrift" panose="020B0502040204020203" pitchFamily="34" charset="0"/>
              </a:rPr>
              <a:t> </a:t>
            </a:r>
            <a:r>
              <a:rPr lang="ru-RU" sz="3200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видеоуроков: Пользователь не получает обратной связи в реальном времени. Нет необходимости в дорогих трекерах, всё доступно через камеру смартфона.</a:t>
            </a:r>
            <a:endParaRPr sz="3200" dirty="0">
              <a:solidFill>
                <a:schemeClr val="dk1"/>
              </a:solidFill>
              <a:latin typeface="Bahnschrift" panose="020B0502040204020203" pitchFamily="34" charset="0"/>
              <a:sym typeface="Arial"/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6916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48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Актуальность</a:t>
            </a:r>
            <a:endParaRPr sz="4800" dirty="0">
              <a:latin typeface="Bahnschrift" panose="020B0502040204020203" pitchFamily="34" charset="0"/>
            </a:endParaRPr>
          </a:p>
        </p:txBody>
      </p:sp>
      <p:pic>
        <p:nvPicPr>
          <p:cNvPr id="110" name="Google Shape;11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5981700"/>
            <a:ext cx="7761171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4">
            <a:alphaModFix/>
          </a:blip>
          <a:srcRect b="19568"/>
          <a:stretch/>
        </p:blipFill>
        <p:spPr>
          <a:xfrm>
            <a:off x="8686800" y="5981700"/>
            <a:ext cx="7620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Становая тяга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6442" y="1044742"/>
            <a:ext cx="4495800" cy="449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0" y="857250"/>
            <a:ext cx="16902430" cy="19050"/>
          </a:xfrm>
          <a:custGeom>
            <a:avLst/>
            <a:gdLst/>
            <a:ahLst/>
            <a:cxnLst/>
            <a:rect l="l" t="t" r="r" b="b"/>
            <a:pathLst>
              <a:path w="16902430" h="19050" extrusionOk="0">
                <a:moveTo>
                  <a:pt x="0" y="19050"/>
                </a:moveTo>
                <a:lnTo>
                  <a:pt x="16902176" y="19050"/>
                </a:lnTo>
                <a:lnTo>
                  <a:pt x="16902176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013C88">
              <a:alpha val="1490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8" name="Google Shape;118;p16" descr="$PPTXTitle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288000" cy="7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75" rIns="0" bIns="0" anchor="ctr" anchorCtr="0">
            <a:spAutoFit/>
          </a:bodyPr>
          <a:lstStyle/>
          <a:p>
            <a:pPr marL="515874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48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Цели и задачи</a:t>
            </a:r>
            <a:endParaRPr sz="4800" dirty="0">
              <a:latin typeface="Bahnschrift" panose="020B0502040204020203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1"/>
          </p:nvPr>
        </p:nvSpPr>
        <p:spPr>
          <a:xfrm>
            <a:off x="381000" y="3390900"/>
            <a:ext cx="9296400" cy="4943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lnSpc>
                <a:spcPct val="134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ru-RU" sz="32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Задачи проекта:</a:t>
            </a:r>
            <a:endParaRPr dirty="0">
              <a:latin typeface="Bahnschrift" panose="020B0502040204020203" pitchFamily="34" charset="0"/>
            </a:endParaRPr>
          </a:p>
          <a:p>
            <a:pPr marL="172720" lvl="0" indent="-197555" algn="l" rtl="0">
              <a:lnSpc>
                <a:spcPct val="134375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•"/>
            </a:pPr>
            <a:r>
              <a:rPr lang="ru-RU" sz="32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Аутентификация и управление пользователями</a:t>
            </a:r>
            <a:endParaRPr dirty="0">
              <a:latin typeface="Bahnschrift" panose="020B0502040204020203" pitchFamily="34" charset="0"/>
            </a:endParaRPr>
          </a:p>
          <a:p>
            <a:pPr marL="172720" lvl="0" indent="-197555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•"/>
            </a:pPr>
            <a:r>
              <a:rPr lang="ru-RU" sz="32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Поддержка тренировочного процесса</a:t>
            </a:r>
            <a:endParaRPr dirty="0">
              <a:latin typeface="Bahnschrift" panose="020B0502040204020203" pitchFamily="34" charset="0"/>
            </a:endParaRPr>
          </a:p>
          <a:p>
            <a:pPr marL="172720" lvl="0" indent="-197555" algn="l" rtl="0">
              <a:lnSpc>
                <a:spcPct val="134375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•"/>
            </a:pPr>
            <a:r>
              <a:rPr lang="ru-RU" sz="32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Хранение и просмотр истории тренировок</a:t>
            </a:r>
            <a:endParaRPr dirty="0">
              <a:latin typeface="Bahnschrift" panose="020B0502040204020203" pitchFamily="34" charset="0"/>
            </a:endParaRPr>
          </a:p>
          <a:p>
            <a:pPr marL="172720" lvl="0" indent="-197555" algn="l" rtl="0">
              <a:lnSpc>
                <a:spcPct val="134375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•"/>
            </a:pPr>
            <a:r>
              <a:rPr lang="ru-RU" sz="32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Администрирование и подготовка эталонных данных</a:t>
            </a:r>
            <a:endParaRPr dirty="0">
              <a:latin typeface="Bahnschrift" panose="020B0502040204020203" pitchFamily="34" charset="0"/>
            </a:endParaRPr>
          </a:p>
          <a:p>
            <a:pPr marL="172720" lvl="0" indent="-197555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•"/>
            </a:pPr>
            <a:r>
              <a:rPr lang="ru-RU" sz="32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Интеграция с ML-моделями распознавания позы</a:t>
            </a:r>
            <a:endParaRPr sz="3200" dirty="0">
              <a:latin typeface="Bahnschrift" panose="020B0502040204020203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304800" y="1181100"/>
            <a:ext cx="9372600" cy="2010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spAutoFit/>
          </a:bodyPr>
          <a:lstStyle/>
          <a:p>
            <a:pPr marL="12700" marR="5080" lvl="0" indent="0" algn="l" rtl="0">
              <a:lnSpc>
                <a:spcPct val="13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Цель проекта – разработать веб-систему для анализа техники выполнения физических упражнений</a:t>
            </a:r>
            <a:endParaRPr dirty="0">
              <a:latin typeface="Bahnschrift" panose="020B0502040204020203" pitchFamily="34" charset="0"/>
            </a:endParaRPr>
          </a:p>
        </p:txBody>
      </p:sp>
      <p:grpSp>
        <p:nvGrpSpPr>
          <p:cNvPr id="121" name="Google Shape;121;p16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22" name="Google Shape;122;p16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10668000" y="1181100"/>
            <a:ext cx="5943600" cy="7591425"/>
            <a:chOff x="9563100" y="1352550"/>
            <a:chExt cx="5943600" cy="7591425"/>
          </a:xfrm>
        </p:grpSpPr>
        <p:pic>
          <p:nvPicPr>
            <p:cNvPr id="125" name="Google Shape;125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63100" y="1352550"/>
              <a:ext cx="5943600" cy="7591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6"/>
            <p:cNvSpPr/>
            <p:nvPr/>
          </p:nvSpPr>
          <p:spPr>
            <a:xfrm>
              <a:off x="9563100" y="1352550"/>
              <a:ext cx="5943600" cy="7591425"/>
            </a:xfrm>
            <a:custGeom>
              <a:avLst/>
              <a:gdLst/>
              <a:ahLst/>
              <a:cxnLst/>
              <a:rect l="l" t="t" r="r" b="b"/>
              <a:pathLst>
                <a:path w="5943600" h="7591425" extrusionOk="0">
                  <a:moveTo>
                    <a:pt x="5943600" y="0"/>
                  </a:moveTo>
                  <a:lnTo>
                    <a:pt x="0" y="0"/>
                  </a:lnTo>
                  <a:lnTo>
                    <a:pt x="0" y="7591425"/>
                  </a:lnTo>
                  <a:lnTo>
                    <a:pt x="5943600" y="759142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013C88">
                <a:alpha val="1490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0" y="847725"/>
            <a:ext cx="16902430" cy="19050"/>
          </a:xfrm>
          <a:custGeom>
            <a:avLst/>
            <a:gdLst/>
            <a:ahLst/>
            <a:cxnLst/>
            <a:rect l="l" t="t" r="r" b="b"/>
            <a:pathLst>
              <a:path w="16902430" h="19050" extrusionOk="0">
                <a:moveTo>
                  <a:pt x="0" y="19050"/>
                </a:moveTo>
                <a:lnTo>
                  <a:pt x="16902176" y="19050"/>
                </a:lnTo>
                <a:lnTo>
                  <a:pt x="16902176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013C88">
              <a:alpha val="1490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32" name="Google Shape;132;p17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33" name="Google Shape;133;p17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135" name="Google Shape;135;p17" descr="Чистая сетка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5800" y="1409700"/>
            <a:ext cx="8762999" cy="749366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6916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48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Инструменты и технологии</a:t>
            </a:r>
            <a:endParaRPr sz="480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0" y="857250"/>
            <a:ext cx="5080" cy="19050"/>
          </a:xfrm>
          <a:custGeom>
            <a:avLst/>
            <a:gdLst/>
            <a:ahLst/>
            <a:cxnLst/>
            <a:rect l="l" t="t" r="r" b="b"/>
            <a:pathLst>
              <a:path w="5080" h="19050" extrusionOk="0">
                <a:moveTo>
                  <a:pt x="0" y="19050"/>
                </a:moveTo>
                <a:lnTo>
                  <a:pt x="4763" y="19050"/>
                </a:lnTo>
                <a:lnTo>
                  <a:pt x="4763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F8FBFF">
              <a:alpha val="1490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3" name="Google Shape;143;p18"/>
          <p:cNvSpPr/>
          <p:nvPr/>
        </p:nvSpPr>
        <p:spPr>
          <a:xfrm>
            <a:off x="2347913" y="857250"/>
            <a:ext cx="15940405" cy="19050"/>
          </a:xfrm>
          <a:custGeom>
            <a:avLst/>
            <a:gdLst/>
            <a:ahLst/>
            <a:cxnLst/>
            <a:rect l="l" t="t" r="r" b="b"/>
            <a:pathLst>
              <a:path w="15940405" h="19050" extrusionOk="0">
                <a:moveTo>
                  <a:pt x="0" y="19050"/>
                </a:moveTo>
                <a:lnTo>
                  <a:pt x="15940086" y="19050"/>
                </a:lnTo>
                <a:lnTo>
                  <a:pt x="15940086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F8FBFF">
              <a:alpha val="1490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5362" y="1733550"/>
            <a:ext cx="8677275" cy="7467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147" name="Google Shape;147;p18"/>
          <p:cNvGrpSpPr/>
          <p:nvPr/>
        </p:nvGrpSpPr>
        <p:grpSpPr>
          <a:xfrm>
            <a:off x="4763" y="23812"/>
            <a:ext cx="2343150" cy="10248900"/>
            <a:chOff x="4763" y="23812"/>
            <a:chExt cx="2343150" cy="10248900"/>
          </a:xfrm>
        </p:grpSpPr>
        <p:sp>
          <p:nvSpPr>
            <p:cNvPr id="148" name="Google Shape;148;p18"/>
            <p:cNvSpPr/>
            <p:nvPr/>
          </p:nvSpPr>
          <p:spPr>
            <a:xfrm>
              <a:off x="4763" y="23812"/>
              <a:ext cx="2343150" cy="10248900"/>
            </a:xfrm>
            <a:custGeom>
              <a:avLst/>
              <a:gdLst/>
              <a:ahLst/>
              <a:cxnLst/>
              <a:rect l="l" t="t" r="r" b="b"/>
              <a:pathLst>
                <a:path w="2343150" h="10248900" extrusionOk="0">
                  <a:moveTo>
                    <a:pt x="2343150" y="0"/>
                  </a:moveTo>
                  <a:lnTo>
                    <a:pt x="0" y="0"/>
                  </a:lnTo>
                  <a:lnTo>
                    <a:pt x="0" y="10248900"/>
                  </a:lnTo>
                  <a:lnTo>
                    <a:pt x="2343150" y="10248900"/>
                  </a:lnTo>
                  <a:lnTo>
                    <a:pt x="234315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4763" y="23812"/>
              <a:ext cx="2343150" cy="10248900"/>
            </a:xfrm>
            <a:custGeom>
              <a:avLst/>
              <a:gdLst/>
              <a:ahLst/>
              <a:cxnLst/>
              <a:rect l="l" t="t" r="r" b="b"/>
              <a:pathLst>
                <a:path w="2343150" h="10248900" extrusionOk="0">
                  <a:moveTo>
                    <a:pt x="0" y="10248900"/>
                  </a:moveTo>
                  <a:lnTo>
                    <a:pt x="2343150" y="10248900"/>
                  </a:lnTo>
                  <a:lnTo>
                    <a:pt x="2343150" y="0"/>
                  </a:lnTo>
                  <a:lnTo>
                    <a:pt x="0" y="0"/>
                  </a:lnTo>
                  <a:lnTo>
                    <a:pt x="0" y="10248900"/>
                  </a:lnTo>
                  <a:close/>
                </a:path>
              </a:pathLst>
            </a:custGeom>
            <a:noFill/>
            <a:ln w="2540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50" name="Google Shape;150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288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ru-RU" dirty="0">
                <a:latin typeface="Bahnschrift" panose="020B0502040204020203" pitchFamily="34" charset="0"/>
              </a:rPr>
              <a:t>UML диаграмма вариантов использования</a:t>
            </a:r>
            <a:endParaRPr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56" name="Google Shape;156;p19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58" name="Google Shape;158;p19" descr="$PPTXTitle"/>
          <p:cNvSpPr txBox="1">
            <a:spLocks noGrp="1"/>
          </p:cNvSpPr>
          <p:nvPr>
            <p:ph type="title"/>
          </p:nvPr>
        </p:nvSpPr>
        <p:spPr>
          <a:xfrm>
            <a:off x="78739" y="33020"/>
            <a:ext cx="18130520" cy="75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Теоретическая часть: Архитектура</a:t>
            </a:r>
            <a:endParaRPr dirty="0">
              <a:solidFill>
                <a:srgbClr val="00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159" name="Google Shape;159;p19" descr="Слои"/>
          <p:cNvPicPr preferRelativeResize="0"/>
          <p:nvPr/>
        </p:nvPicPr>
        <p:blipFill rotWithShape="1">
          <a:blip r:embed="rId3">
            <a:alphaModFix/>
          </a:blip>
          <a:srcRect l="855" t="855" r="855" b="855"/>
          <a:stretch/>
        </p:blipFill>
        <p:spPr>
          <a:xfrm>
            <a:off x="4038600" y="876300"/>
            <a:ext cx="9601200" cy="87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0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65" name="Google Shape;165;p20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69" name="Google Shape;169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69164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dirty="0">
                <a:solidFill>
                  <a:schemeClr val="dk1"/>
                </a:solidFill>
                <a:latin typeface="Bahnschrift" panose="020B0502040204020203" pitchFamily="34" charset="0"/>
              </a:rPr>
              <a:t>Практическая часть: Страница входа и регистрации</a:t>
            </a:r>
            <a:endParaRPr dirty="0">
              <a:latin typeface="Bahnschrift" panose="020B0502040204020203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CB1BA9-C714-CDE6-564D-8EE855594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53" y="1257300"/>
            <a:ext cx="5682460" cy="84877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8CA590-0B45-8C3E-F7F2-3E56EFC16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321" y="2277914"/>
            <a:ext cx="7403547" cy="57311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1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76" name="Google Shape;176;p21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78" name="Google Shape;178;p21" descr="$PPTXTitle"/>
          <p:cNvSpPr txBox="1">
            <a:spLocks noGrp="1"/>
          </p:cNvSpPr>
          <p:nvPr>
            <p:ph type="title"/>
          </p:nvPr>
        </p:nvSpPr>
        <p:spPr>
          <a:xfrm>
            <a:off x="78739" y="33020"/>
            <a:ext cx="18130520" cy="75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542415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Практическая часть: Главная страница</a:t>
            </a:r>
            <a:endParaRPr dirty="0">
              <a:solidFill>
                <a:srgbClr val="00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3B4EE8-3DAA-A68A-A3CB-9681B850E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39" y="1416512"/>
            <a:ext cx="16269237" cy="7840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39D35E2F-5FD1-96B9-358C-7B5BAEFD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2">
            <a:extLst>
              <a:ext uri="{FF2B5EF4-FFF2-40B4-BE49-F238E27FC236}">
                <a16:creationId xmlns:a16="http://schemas.microsoft.com/office/drawing/2014/main" id="{0CF26A52-62B6-DD0D-3738-E8FFE45AA52B}"/>
              </a:ext>
            </a:extLst>
          </p:cNvPr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84" name="Google Shape;184;p22">
              <a:extLst>
                <a:ext uri="{FF2B5EF4-FFF2-40B4-BE49-F238E27FC236}">
                  <a16:creationId xmlns:a16="http://schemas.microsoft.com/office/drawing/2014/main" id="{B3BA3A3C-DF23-8546-41FD-8A93FAA7D5DE}"/>
                </a:ext>
              </a:extLst>
            </p:cNvPr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" name="Google Shape;185;p22">
              <a:extLst>
                <a:ext uri="{FF2B5EF4-FFF2-40B4-BE49-F238E27FC236}">
                  <a16:creationId xmlns:a16="http://schemas.microsoft.com/office/drawing/2014/main" id="{EDC79045-8256-EF74-A303-D12F5E34BF5A}"/>
                </a:ext>
              </a:extLst>
            </p:cNvPr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6" name="Google Shape;186;p22" descr="$PPTXTitle">
            <a:extLst>
              <a:ext uri="{FF2B5EF4-FFF2-40B4-BE49-F238E27FC236}">
                <a16:creationId xmlns:a16="http://schemas.microsoft.com/office/drawing/2014/main" id="{7BD6D5C2-C163-B93C-8E0F-DB14FD054F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33020"/>
            <a:ext cx="16753523" cy="75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54241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Практическая часть: Страница тренировок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190" name="Google Shape;190;p22">
            <a:extLst>
              <a:ext uri="{FF2B5EF4-FFF2-40B4-BE49-F238E27FC236}">
                <a16:creationId xmlns:a16="http://schemas.microsoft.com/office/drawing/2014/main" id="{E59ED2AB-1226-E2D2-8556-54EFCD0BABB6}"/>
              </a:ext>
            </a:extLst>
          </p:cNvPr>
          <p:cNvSpPr txBox="1"/>
          <p:nvPr/>
        </p:nvSpPr>
        <p:spPr>
          <a:xfrm>
            <a:off x="11992257" y="1451698"/>
            <a:ext cx="4840005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Функции:</a:t>
            </a:r>
            <a:b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</a:b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D3CBF-6D0A-49BD-E5ED-AFF907A2C9EE}"/>
              </a:ext>
            </a:extLst>
          </p:cNvPr>
          <p:cNvSpPr txBox="1"/>
          <p:nvPr/>
        </p:nvSpPr>
        <p:spPr>
          <a:xfrm>
            <a:off x="12168520" y="2136064"/>
            <a:ext cx="462730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Выбор упражнения</a:t>
            </a:r>
            <a:b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</a:b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Просмотр эталонного видео</a:t>
            </a:r>
            <a:b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</a:br>
            <a:r>
              <a:rPr lang="ru-RU" sz="4000" dirty="0" err="1">
                <a:latin typeface="Bahnschrift" panose="020B0502040204020203" pitchFamily="34" charset="0"/>
                <a:ea typeface="Arimo"/>
                <a:cs typeface="Arimo"/>
                <a:sym typeface="Arimo"/>
              </a:rPr>
              <a:t>Вкл</a:t>
            </a: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/</a:t>
            </a:r>
            <a:r>
              <a:rPr lang="ru-RU" sz="4000" dirty="0" err="1">
                <a:latin typeface="Bahnschrift" panose="020B0502040204020203" pitchFamily="34" charset="0"/>
                <a:ea typeface="Arimo"/>
                <a:cs typeface="Arimo"/>
                <a:sym typeface="Arimo"/>
              </a:rPr>
              <a:t>Выкл</a:t>
            </a: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 камеры</a:t>
            </a:r>
            <a:b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</a:b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Просмотр сохранённых записей</a:t>
            </a:r>
            <a:b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</a:b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Выбор количества подходов</a:t>
            </a:r>
            <a:endParaRPr lang="ru-RU" sz="4000" dirty="0">
              <a:latin typeface="Bahnschrift" panose="020B0502040204020203" pitchFamily="34" charset="0"/>
              <a:ea typeface="Arimo"/>
              <a:cs typeface="Arimo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770F5A-1104-7E97-152C-20A887C67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5149"/>
            <a:ext cx="12062171" cy="927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20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2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84" name="Google Shape;184;p22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6" name="Google Shape;186;p22" descr="$PPTXTitle"/>
          <p:cNvSpPr txBox="1">
            <a:spLocks noGrp="1"/>
          </p:cNvSpPr>
          <p:nvPr>
            <p:ph type="title"/>
          </p:nvPr>
        </p:nvSpPr>
        <p:spPr>
          <a:xfrm>
            <a:off x="78739" y="33020"/>
            <a:ext cx="16753523" cy="75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54241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Практическая часть: Страница тренировок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973392" y="8373132"/>
            <a:ext cx="1471889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Функции:</a:t>
            </a:r>
            <a:b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</a:b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Начать запись Сохранить видео Перезаписать видео</a:t>
            </a:r>
            <a:endParaRPr dirty="0">
              <a:latin typeface="Bahnschrift" panose="020B0502040204020203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19360F-37BA-F0B1-DC0B-F8370CB28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845" y="785149"/>
            <a:ext cx="10757310" cy="75879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23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96" name="Google Shape;196;p23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7" name="Google Shape;197;p23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98" name="Google Shape;198;p23" descr="$PPTXTitle"/>
          <p:cNvSpPr txBox="1">
            <a:spLocks noGrp="1"/>
          </p:cNvSpPr>
          <p:nvPr>
            <p:ph type="title"/>
          </p:nvPr>
        </p:nvSpPr>
        <p:spPr>
          <a:xfrm>
            <a:off x="1" y="33020"/>
            <a:ext cx="16840200" cy="75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26676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Практическая часть: Профиль пользователя</a:t>
            </a:r>
            <a:endParaRPr dirty="0">
              <a:solidFill>
                <a:srgbClr val="00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B833EC-0E14-4507-F3CD-E4917067D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25" y="915633"/>
            <a:ext cx="9102517" cy="9055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B97890-CCEE-5F08-C440-42FD5ABD6124}"/>
              </a:ext>
            </a:extLst>
          </p:cNvPr>
          <p:cNvSpPr txBox="1"/>
          <p:nvPr/>
        </p:nvSpPr>
        <p:spPr>
          <a:xfrm>
            <a:off x="9144000" y="6686837"/>
            <a:ext cx="74980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4000" dirty="0">
                <a:latin typeface="Bahnschrift" panose="020B0502040204020203" pitchFamily="34" charset="0"/>
              </a:rPr>
              <a:t>Вставка фото</a:t>
            </a:r>
            <a:br>
              <a:rPr lang="ru-RU" sz="4000" dirty="0">
                <a:latin typeface="Bahnschrift" panose="020B0502040204020203" pitchFamily="34" charset="0"/>
              </a:rPr>
            </a:br>
            <a:r>
              <a:rPr lang="ru-RU" sz="4000" dirty="0">
                <a:latin typeface="Bahnschrift" panose="020B0502040204020203" pitchFamily="34" charset="0"/>
              </a:rPr>
              <a:t>Изменение данных  пользователя </a:t>
            </a:r>
            <a:br>
              <a:rPr lang="ru-RU" sz="4000" dirty="0">
                <a:latin typeface="Bahnschrift" panose="020B0502040204020203" pitchFamily="34" charset="0"/>
              </a:rPr>
            </a:br>
            <a:r>
              <a:rPr lang="ru-RU" sz="4000" dirty="0">
                <a:latin typeface="Bahnschrift" panose="020B0502040204020203" pitchFamily="34" charset="0"/>
              </a:rPr>
              <a:t>Удаление профиля </a:t>
            </a:r>
            <a:br>
              <a:rPr lang="ru-RU" sz="4000" dirty="0">
                <a:latin typeface="Bahnschrift" panose="020B0502040204020203" pitchFamily="34" charset="0"/>
              </a:rPr>
            </a:br>
            <a:r>
              <a:rPr lang="ru-RU" sz="4000" dirty="0">
                <a:latin typeface="Bahnschrift" panose="020B0502040204020203" pitchFamily="34" charset="0"/>
              </a:rPr>
              <a:t>Просмотр тренировок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19A1C0-822D-F55D-AE76-6763E4C55FFC}"/>
              </a:ext>
            </a:extLst>
          </p:cNvPr>
          <p:cNvSpPr txBox="1"/>
          <p:nvPr/>
        </p:nvSpPr>
        <p:spPr>
          <a:xfrm>
            <a:off x="9800339" y="5680349"/>
            <a:ext cx="71018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latin typeface="Bahnschrift" panose="020B0502040204020203" pitchFamily="34" charset="0"/>
              </a:rPr>
              <a:t>Функции</a:t>
            </a:r>
            <a:r>
              <a:rPr lang="en-US" sz="4400" dirty="0">
                <a:latin typeface="Bahnschrift" panose="020B0502040204020203" pitchFamily="34" charset="0"/>
              </a:rPr>
              <a:t>:</a:t>
            </a:r>
            <a:endParaRPr lang="ru-RU" sz="4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F6996C9-4137-F4D6-67FD-871FBD2FF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441" y="1029668"/>
            <a:ext cx="4413634" cy="44136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8E1EBB02-B5CF-AB49-38E0-438CEF84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4">
            <a:extLst>
              <a:ext uri="{FF2B5EF4-FFF2-40B4-BE49-F238E27FC236}">
                <a16:creationId xmlns:a16="http://schemas.microsoft.com/office/drawing/2014/main" id="{D0AFF704-8614-5C53-7A57-E8E067E320FE}"/>
              </a:ext>
            </a:extLst>
          </p:cNvPr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205" name="Google Shape;205;p24">
              <a:extLst>
                <a:ext uri="{FF2B5EF4-FFF2-40B4-BE49-F238E27FC236}">
                  <a16:creationId xmlns:a16="http://schemas.microsoft.com/office/drawing/2014/main" id="{433DE062-F305-9508-D223-C7D08E0BD6B5}"/>
                </a:ext>
              </a:extLst>
            </p:cNvPr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6" name="Google Shape;206;p24">
              <a:extLst>
                <a:ext uri="{FF2B5EF4-FFF2-40B4-BE49-F238E27FC236}">
                  <a16:creationId xmlns:a16="http://schemas.microsoft.com/office/drawing/2014/main" id="{AEC1843C-58FC-3F6B-80B4-564D00726723}"/>
                </a:ext>
              </a:extLst>
            </p:cNvPr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A18BB5-D988-C5AE-B6CC-4D0E2B947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575" y="960362"/>
            <a:ext cx="12901787" cy="9112787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281288B-2445-025B-828A-C2CC411E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6902176" cy="960362"/>
          </a:xfrm>
        </p:spPr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Практическая часть: Страница разработчика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0011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4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205" name="Google Shape;205;p24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CF12FC-8083-D715-951A-D0BB2529F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073" y="785149"/>
            <a:ext cx="9858029" cy="9257726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F98CB75-87EF-E515-3862-89B3DC16D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6902176" cy="785149"/>
          </a:xfrm>
        </p:spPr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Практическая часть: Страница разработчика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78739" y="33020"/>
            <a:ext cx="1462786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2667635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>
                <a:solidFill>
                  <a:srgbClr val="000000"/>
                </a:solidFill>
              </a:rPr>
              <a:t>Видео</a:t>
            </a:r>
            <a:endParaRPr/>
          </a:p>
        </p:txBody>
      </p:sp>
      <p:pic>
        <p:nvPicPr>
          <p:cNvPr id="3" name="prilozenie-dlia-kontrolia-vypolneniia-fizices_vnK51JzD">
            <a:hlinkClick r:id="" action="ppaction://media"/>
            <a:extLst>
              <a:ext uri="{FF2B5EF4-FFF2-40B4-BE49-F238E27FC236}">
                <a16:creationId xmlns:a16="http://schemas.microsoft.com/office/drawing/2014/main" id="{0D7431E7-2A14-203A-E899-21425F1C2F3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84006" y="771684"/>
            <a:ext cx="16119987" cy="8731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26"/>
          <p:cNvGrpSpPr/>
          <p:nvPr/>
        </p:nvGrpSpPr>
        <p:grpSpPr>
          <a:xfrm>
            <a:off x="0" y="4762"/>
            <a:ext cx="18288381" cy="10282555"/>
            <a:chOff x="0" y="4762"/>
            <a:chExt cx="18288381" cy="10282555"/>
          </a:xfrm>
        </p:grpSpPr>
        <p:sp>
          <p:nvSpPr>
            <p:cNvPr id="224" name="Google Shape;224;p26"/>
            <p:cNvSpPr/>
            <p:nvPr/>
          </p:nvSpPr>
          <p:spPr>
            <a:xfrm>
              <a:off x="0" y="857250"/>
              <a:ext cx="16902430" cy="19050"/>
            </a:xfrm>
            <a:custGeom>
              <a:avLst/>
              <a:gdLst/>
              <a:ahLst/>
              <a:cxnLst/>
              <a:rect l="l" t="t" r="r" b="b"/>
              <a:pathLst>
                <a:path w="16902430" h="19050" extrusionOk="0">
                  <a:moveTo>
                    <a:pt x="0" y="19050"/>
                  </a:moveTo>
                  <a:lnTo>
                    <a:pt x="16902176" y="19050"/>
                  </a:lnTo>
                  <a:lnTo>
                    <a:pt x="16902176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13C88">
                <a:alpha val="1490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27" name="Google Shape;227;p26"/>
          <p:cNvSpPr txBox="1"/>
          <p:nvPr/>
        </p:nvSpPr>
        <p:spPr>
          <a:xfrm>
            <a:off x="78739" y="1510982"/>
            <a:ext cx="8224500" cy="641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52705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Создание мобильного приложения</a:t>
            </a:r>
            <a:endParaRPr dirty="0"/>
          </a:p>
          <a:p>
            <a:pPr marL="527050" marR="2414270" lvl="0" indent="-514350" rtl="0">
              <a:lnSpc>
                <a:spcPct val="199400"/>
              </a:lnSpc>
              <a:spcBef>
                <a:spcPts val="75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Добавить больше упражнений Система достижений</a:t>
            </a:r>
            <a:endParaRPr dirty="0"/>
          </a:p>
          <a:p>
            <a:pPr marL="527050" marR="5080" lvl="0" indent="-514350" rtl="0">
              <a:lnSpc>
                <a:spcPct val="199400"/>
              </a:lnSpc>
              <a:spcBef>
                <a:spcPts val="75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Интеграция с приложениями для здоровья Аудио-анализ</a:t>
            </a:r>
            <a:endParaRPr dirty="0"/>
          </a:p>
          <a:p>
            <a:pPr marL="527050" lvl="0" indent="-514350" rtl="0">
              <a:lnSpc>
                <a:spcPct val="100000"/>
              </a:lnSpc>
              <a:spcBef>
                <a:spcPts val="3819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Турнирная таблица (</a:t>
            </a:r>
            <a:r>
              <a:rPr lang="ru-RU" sz="3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Leaderboard</a:t>
            </a:r>
            <a:r>
              <a:rPr lang="ru-RU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6916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ru-RU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Планы на улучшение</a:t>
            </a:r>
            <a:endParaRPr sz="4800"/>
          </a:p>
        </p:txBody>
      </p:sp>
      <p:pic>
        <p:nvPicPr>
          <p:cNvPr id="229" name="Google Shape;229;p26" descr="Вверх по ступеня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0" y="1485900"/>
            <a:ext cx="7924799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7"/>
          <p:cNvSpPr/>
          <p:nvPr/>
        </p:nvSpPr>
        <p:spPr>
          <a:xfrm>
            <a:off x="0" y="847725"/>
            <a:ext cx="5080" cy="19050"/>
          </a:xfrm>
          <a:custGeom>
            <a:avLst/>
            <a:gdLst/>
            <a:ahLst/>
            <a:cxnLst/>
            <a:rect l="l" t="t" r="r" b="b"/>
            <a:pathLst>
              <a:path w="5080" h="19050" extrusionOk="0">
                <a:moveTo>
                  <a:pt x="0" y="19050"/>
                </a:moveTo>
                <a:lnTo>
                  <a:pt x="4763" y="19050"/>
                </a:lnTo>
                <a:lnTo>
                  <a:pt x="4763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F8FBFF">
              <a:alpha val="1490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6" name="Google Shape;236;p27"/>
          <p:cNvSpPr/>
          <p:nvPr/>
        </p:nvSpPr>
        <p:spPr>
          <a:xfrm>
            <a:off x="2347913" y="847725"/>
            <a:ext cx="15940405" cy="19050"/>
          </a:xfrm>
          <a:custGeom>
            <a:avLst/>
            <a:gdLst/>
            <a:ahLst/>
            <a:cxnLst/>
            <a:rect l="l" t="t" r="r" b="b"/>
            <a:pathLst>
              <a:path w="15940405" h="19050" extrusionOk="0">
                <a:moveTo>
                  <a:pt x="0" y="19050"/>
                </a:moveTo>
                <a:lnTo>
                  <a:pt x="15940086" y="19050"/>
                </a:lnTo>
                <a:lnTo>
                  <a:pt x="15940086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F8FBFF">
              <a:alpha val="1490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37" name="Google Shape;237;p27"/>
          <p:cNvGrpSpPr/>
          <p:nvPr/>
        </p:nvGrpSpPr>
        <p:grpSpPr>
          <a:xfrm>
            <a:off x="4763" y="23812"/>
            <a:ext cx="2343150" cy="10248900"/>
            <a:chOff x="4763" y="23812"/>
            <a:chExt cx="2343150" cy="10248900"/>
          </a:xfrm>
        </p:grpSpPr>
        <p:sp>
          <p:nvSpPr>
            <p:cNvPr id="238" name="Google Shape;238;p27"/>
            <p:cNvSpPr/>
            <p:nvPr/>
          </p:nvSpPr>
          <p:spPr>
            <a:xfrm>
              <a:off x="4763" y="23812"/>
              <a:ext cx="2343150" cy="10248900"/>
            </a:xfrm>
            <a:custGeom>
              <a:avLst/>
              <a:gdLst/>
              <a:ahLst/>
              <a:cxnLst/>
              <a:rect l="l" t="t" r="r" b="b"/>
              <a:pathLst>
                <a:path w="2343150" h="10248900" extrusionOk="0">
                  <a:moveTo>
                    <a:pt x="2343150" y="0"/>
                  </a:moveTo>
                  <a:lnTo>
                    <a:pt x="0" y="0"/>
                  </a:lnTo>
                  <a:lnTo>
                    <a:pt x="0" y="10248900"/>
                  </a:lnTo>
                  <a:lnTo>
                    <a:pt x="2343150" y="10248900"/>
                  </a:lnTo>
                  <a:lnTo>
                    <a:pt x="234315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9" name="Google Shape;239;p27"/>
            <p:cNvSpPr/>
            <p:nvPr/>
          </p:nvSpPr>
          <p:spPr>
            <a:xfrm>
              <a:off x="4763" y="23812"/>
              <a:ext cx="2343150" cy="10248900"/>
            </a:xfrm>
            <a:custGeom>
              <a:avLst/>
              <a:gdLst/>
              <a:ahLst/>
              <a:cxnLst/>
              <a:rect l="l" t="t" r="r" b="b"/>
              <a:pathLst>
                <a:path w="2343150" h="10248900" extrusionOk="0">
                  <a:moveTo>
                    <a:pt x="0" y="10248900"/>
                  </a:moveTo>
                  <a:lnTo>
                    <a:pt x="2343150" y="10248900"/>
                  </a:lnTo>
                  <a:lnTo>
                    <a:pt x="2343150" y="0"/>
                  </a:lnTo>
                  <a:lnTo>
                    <a:pt x="0" y="0"/>
                  </a:lnTo>
                  <a:lnTo>
                    <a:pt x="0" y="10248900"/>
                  </a:lnTo>
                  <a:close/>
                </a:path>
              </a:pathLst>
            </a:custGeom>
            <a:noFill/>
            <a:ln w="2540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40" name="Google Shape;240;p27"/>
          <p:cNvSpPr/>
          <p:nvPr/>
        </p:nvSpPr>
        <p:spPr>
          <a:xfrm>
            <a:off x="2362199" y="1333500"/>
            <a:ext cx="15693325" cy="119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" marR="5080" lvl="0" indent="0" algn="l" rtl="0">
              <a:lnSpc>
                <a:spcPct val="13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Я разработал веб-систему для анализа техники выполнения физических упражнений</a:t>
            </a:r>
            <a:endParaRPr sz="32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2362200" y="3086100"/>
            <a:ext cx="15212878" cy="4503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" marR="5080" lvl="0" indent="-12700" algn="l" rtl="0">
              <a:lnSpc>
                <a:spcPct val="13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Выполнил все поставленные задачи</a:t>
            </a:r>
            <a:br>
              <a:rPr lang="ru-RU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Создал аутентификацию и управление пользователями, поддержку тренировочного процесса, хранение и просмотр истории тренировок, администрирование и подготовка эталонных данных а также провёл интеграцию с ML-моделями распознавания позы</a:t>
            </a:r>
            <a:endParaRPr dirty="0"/>
          </a:p>
        </p:txBody>
      </p:sp>
      <p:sp>
        <p:nvSpPr>
          <p:cNvPr id="242" name="Google Shape;242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2880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ru-RU"/>
              <a:t>Заключение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267</Words>
  <Application>Microsoft Office PowerPoint</Application>
  <PresentationFormat>Произвольный</PresentationFormat>
  <Paragraphs>39</Paragraphs>
  <Slides>16</Slides>
  <Notes>16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Bahnschrift</vt:lpstr>
      <vt:lpstr>Calibri</vt:lpstr>
      <vt:lpstr>Arial</vt:lpstr>
      <vt:lpstr>Тема Office</vt:lpstr>
      <vt:lpstr>Компьютерная Академия ТОП</vt:lpstr>
      <vt:lpstr>Актуальность</vt:lpstr>
      <vt:lpstr>Цели и задачи</vt:lpstr>
      <vt:lpstr>Инструменты и технологии</vt:lpstr>
      <vt:lpstr>UML диаграмма вариантов использования</vt:lpstr>
      <vt:lpstr>Теоретическая часть: Архитектура</vt:lpstr>
      <vt:lpstr>Практическая часть: Страница входа и регистрации</vt:lpstr>
      <vt:lpstr>Практическая часть: Главная страница</vt:lpstr>
      <vt:lpstr>Практическая часть: Страница тренировок</vt:lpstr>
      <vt:lpstr>Практическая часть: Страница тренировок</vt:lpstr>
      <vt:lpstr>Практическая часть: Профиль пользователя</vt:lpstr>
      <vt:lpstr>Практическая часть: Страница разработчика</vt:lpstr>
      <vt:lpstr>Практическая часть: Страница разработчика</vt:lpstr>
      <vt:lpstr>Видео</vt:lpstr>
      <vt:lpstr>Планы на улучшение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Пользователь</cp:lastModifiedBy>
  <cp:revision>6</cp:revision>
  <dcterms:modified xsi:type="dcterms:W3CDTF">2026-04-24T20:54:49Z</dcterms:modified>
</cp:coreProperties>
</file>